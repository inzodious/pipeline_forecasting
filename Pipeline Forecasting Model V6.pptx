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B8F5CE-9194-4B1A-B5EF-312DC7DEED90}">
  <a:tblStyle styleId="{2CB8F5CE-9194-4B1A-B5EF-312DC7DEED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9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1442" y="1565969"/>
            <a:ext cx="244911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65383" y="2708969"/>
            <a:ext cx="98612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Pipeline Forecasting Model V6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14762" y="3871019"/>
            <a:ext cx="4562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A3E0"/>
                </a:solidFill>
                <a:latin typeface="Lato"/>
                <a:ea typeface="Lato"/>
                <a:cs typeface="Lato"/>
                <a:sym typeface="Lato"/>
              </a:rPr>
              <a:t>TWO-LAYER HYBRID ARCHITECTURE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62512" y="4846290"/>
            <a:ext cx="2466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January 2026 | Strategic Planning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0478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Two-Layer Hybrid Model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4574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This project implements a robust forecasting model designed to handle sparse data in high-value segments, specifically the Large Market. It blends historical stability with recent performance trends.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7700" y="3867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86715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Produce a stable, defensible forecast for 2026.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47700" y="4171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1719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Mechanism: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Combines cohort-based vintage analysis (Layer 1) with stage-weighted probability modeling (Layer 2).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47700" y="4781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7815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Outcome: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 forecast within 14% of 2025 actuals, representing a realistic recovery target.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Executive Summary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7850"/>
            <a:ext cx="5286375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47850"/>
            <a:ext cx="52863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14400" y="2228850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Layer 1: Future Pipeline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14400" y="272415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"When"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321945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Forecasts revenue from deals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not yet created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in 2026.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77025" y="2228850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Layer 2: Active Pipeline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77025" y="272415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"How Much"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77025" y="3219450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Forecasts revenue from deals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currently open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as of year-end 2025.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81100" y="37147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295400" y="37147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Uses T12M average monthly deal creation volume.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81100" y="4019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295400" y="40195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Stability Anchor: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Anchors to 50/50 blend of T12M and All-Time if volume drops &gt;30%.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81100" y="4629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295400" y="46291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Timing uses a blended distribution (50% All-Time / 50% Recent).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43725" y="4019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058025" y="40195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Assigns probability based on current stage.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943725" y="4324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058025" y="43243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Credibility Weighting: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Blends specific win rates with global averages if exits &lt; 50.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943725" y="4933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058025" y="49339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Staleness Penalty (0.8x) applied to deals &gt;95th percentile age.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Methodology &amp; Architecture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178117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forecast is driven by three primary levers applied at the segment level. Scenario B assumes a recovery in deal volume and conversion efficiency.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2581275"/>
            <a:ext cx="11049000" cy="373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6"/>
          <p:cNvGraphicFramePr/>
          <p:nvPr/>
        </p:nvGraphicFramePr>
        <p:xfrm>
          <a:off x="57150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{2CB8F5CE-9194-4B1A-B5EF-312DC7DEED90}</a:tableStyleId>
              </a:tblPr>
              <a:tblGrid>
                <a:gridCol w="2252950"/>
                <a:gridCol w="2806000"/>
                <a:gridCol w="3008400"/>
                <a:gridCol w="2981625"/>
              </a:tblGrid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Volume Multiplier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 Rate Multiplier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Deal Size Multiplier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 Market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1.8x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Indirect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Mid Market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16"/>
          <p:cNvSpPr/>
          <p:nvPr/>
        </p:nvSpPr>
        <p:spPr>
          <a:xfrm>
            <a:off x="571500" y="3833812"/>
            <a:ext cx="22529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824460" y="3833812"/>
            <a:ext cx="28060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630465" y="3833812"/>
            <a:ext cx="30084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638877" y="3833812"/>
            <a:ext cx="29816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4452937"/>
            <a:ext cx="22529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824460" y="4452937"/>
            <a:ext cx="28060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630465" y="4452937"/>
            <a:ext cx="30084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638877" y="4452937"/>
            <a:ext cx="29816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71500" y="5072062"/>
            <a:ext cx="22529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824460" y="5072062"/>
            <a:ext cx="28060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630465" y="5072062"/>
            <a:ext cx="30084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8638877" y="5072062"/>
            <a:ext cx="29816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71500" y="5691187"/>
            <a:ext cx="22529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824460" y="5691187"/>
            <a:ext cx="28060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630465" y="5691187"/>
            <a:ext cx="30084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638877" y="5691187"/>
            <a:ext cx="29816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71500" y="542925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Scenario B: Growth Recovery Inputs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4087"/>
            <a:ext cx="3876675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9675" y="2224087"/>
            <a:ext cx="3014662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05837" y="2224087"/>
            <a:ext cx="3014662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2286000" y="4881562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forecast projects a conservative yet realistic recovery. The 14% variance vs 2025 actuals accounts for market corrections while targeting growth in key segments.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62025" y="2614612"/>
            <a:ext cx="3095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$19.63M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62025" y="3624262"/>
            <a:ext cx="309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Total Revenue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62025" y="3929062"/>
            <a:ext cx="3095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Target for FY26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410200" y="2614612"/>
            <a:ext cx="22336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14%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410200" y="3624262"/>
            <a:ext cx="22336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Variance to 2025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410200" y="3929062"/>
            <a:ext cx="22336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vs $22.8M Actuals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996362" y="2614612"/>
            <a:ext cx="22336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600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996362" y="3624262"/>
            <a:ext cx="22336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Approx Deal Count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996362" y="3929062"/>
            <a:ext cx="22336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Across all segments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FY26 Forecast Summary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3186112" y="5278784"/>
            <a:ext cx="5819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Large Market remains the primary revenue driver, contributing ~47% of the total forecast.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Revenue by Segment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2185987" y="2243137"/>
            <a:ext cx="7820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model was validated by predicting 2025 performance using data available as of Jan 1, 2025.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2738437"/>
            <a:ext cx="11049000" cy="31146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9"/>
          <p:cNvGraphicFramePr/>
          <p:nvPr/>
        </p:nvGraphicFramePr>
        <p:xfrm>
          <a:off x="571500" y="2738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{2CB8F5CE-9194-4B1A-B5EF-312DC7DEED90}</a:tableStyleId>
              </a:tblPr>
              <a:tblGrid>
                <a:gridCol w="2396275"/>
                <a:gridCol w="1893975"/>
                <a:gridCol w="2396275"/>
                <a:gridCol w="1807975"/>
                <a:gridCol w="2554475"/>
              </a:tblGrid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Forecast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Actuals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 Market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$7.78M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$8.12M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-4.2%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✅ Excellent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Indirect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$5.93M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$7.84M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-24.3%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59E0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⚠️ Under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Mid Market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$4.48M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$6.45M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-30.5%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59E0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⚠️ Under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$18.34M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$22.82M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-19.7%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Acceptable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19"/>
          <p:cNvSpPr/>
          <p:nvPr/>
        </p:nvSpPr>
        <p:spPr>
          <a:xfrm>
            <a:off x="571500" y="3990975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967781" y="3990975"/>
            <a:ext cx="189398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861768" y="3990975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258050" y="3990975"/>
            <a:ext cx="18079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9066014" y="3990975"/>
            <a:ext cx="255448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71500" y="4610100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967781" y="4610100"/>
            <a:ext cx="189398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861768" y="4610100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258050" y="4610100"/>
            <a:ext cx="18079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9066014" y="4610100"/>
            <a:ext cx="255448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71500" y="5229225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2967781" y="5229225"/>
            <a:ext cx="189398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861768" y="5229225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258050" y="5229225"/>
            <a:ext cx="18079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9066014" y="5229225"/>
            <a:ext cx="255448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 Validation (2025 Backtest)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2675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52675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52675"/>
            <a:ext cx="3492549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794225" y="3381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Stability Anchors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66775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If 2025 volume drops &gt;30% vs all-time history, the model anchors to a 50/50 blend of T12M and All-Time data to prevent over-correction.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572524" y="3381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Credibility Weighting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645074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For segment/stage combos with &lt;50 exits, we blend specific win rates with global averages to avoid unrealistic zero-probabilities.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50824" y="3381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Staleness Penalty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423374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 0.8x multiplier is applied to deals older than the 95th percentile duration to reflect diminishing close probability.</a:t>
            </a:r>
            <a:endParaRPr/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6955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6955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6955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Logic Deep Dive: Stability Mechanisms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762000" y="762000"/>
            <a:ext cx="4800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Insights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762000" y="1400175"/>
            <a:ext cx="4572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2009775" y="1838325"/>
            <a:ext cx="21802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Large Market Stability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62000" y="2247900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backtest variance of only -4.2% in the Large Market segment validates the new "Credibility Weighting" logic. This stability is crucial as Large Market deals drive nearly half of our forecasted revenue.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2047875" y="3943350"/>
            <a:ext cx="2100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Areas for Adjustment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762000" y="4352925"/>
            <a:ext cx="457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Indirect and Mid Market segments were under-forecasted in the backtest (-24% and -30%). The V6 model incorporates aggressive "Growth Recovery" multipliers (1.4x Volume) in these segments to close the gap.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280" y="3206204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9960" y="3206204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2641" y="3206204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95321" y="3206204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/>
          <p:nvPr/>
        </p:nvSpPr>
        <p:spPr>
          <a:xfrm>
            <a:off x="571500" y="412432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510733" y="381580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Seasonality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4196804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Adding quarterly weighting (e.g., Q4 flush) to improve monthly precision.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3383413" y="381580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Attribution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3444180" y="4196804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Differentiating Marketing-sourced vs. Sales-sourced leads for Layer 1.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256094" y="381580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Velocity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316860" y="4196804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Incorporating time-in-stage metrics for dynamic "Staleness" penalties.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9128774" y="381580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Churn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9189541" y="4196804"/>
            <a:ext cx="243066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Adding churn/contraction modeling to move towards Net Revenue forecasting.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V7 Roadmap &amp; Enhancements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295275" y="234597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34604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Pipeline Forecasting Model V6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71500" y="4302323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Forecasting Team | January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/>
          <p:nvPr/>
        </p:nvSpPr>
        <p:spPr>
          <a:xfrm>
            <a:off x="571500" y="268143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571500" y="346620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571500" y="34566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71500" y="34566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571500" y="42414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571500" y="42414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3" name="Google Shape;2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08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1666875" y="282431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https://curalinc.com/hubfs/CuraLinc_Primary-Logo_RGB_Color_Transparent_3x.png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1666875" y="30700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curalinc.com</a:t>
            </a:r>
            <a:endParaRPr/>
          </a:p>
        </p:txBody>
      </p:sp>
      <p:pic>
        <p:nvPicPr>
          <p:cNvPr descr="image.png" id="286" name="Google Shape;28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56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1666875" y="360908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https://img.freepik.com/premium-vector/business-team-analyzing-data-large-screen_1058841-1199.jpg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1666875" y="385479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289" name="Google Shape;28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95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1666875" y="439385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https://static.vecteezy.com/system/resources/previews/060/263/189/non_2x/abstract-business-background-transparent-growth-chart-and-arrow-progress-financial-success-concept-vector.jpg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666875" y="48376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Image Sources</a:t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